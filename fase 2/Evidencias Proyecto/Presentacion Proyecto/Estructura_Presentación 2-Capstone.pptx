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Poppi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goK+8QTPxEVKd8IcfQVnv9/1VI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Poppi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9a3049542_0_1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89a3049542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9a3049542_0_1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89a3049542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9a3049542_0_1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89a3049542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89a3049542_0_51"/>
          <p:cNvSpPr/>
          <p:nvPr/>
        </p:nvSpPr>
        <p:spPr>
          <a:xfrm flipH="1">
            <a:off x="10995300" y="5661233"/>
            <a:ext cx="1196700" cy="1196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g389a3049542_0_51"/>
          <p:cNvSpPr/>
          <p:nvPr/>
        </p:nvSpPr>
        <p:spPr>
          <a:xfrm flipH="1">
            <a:off x="10995300" y="5661167"/>
            <a:ext cx="1196700" cy="11967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g389a3049542_0_51"/>
          <p:cNvSpPr txBox="1"/>
          <p:nvPr>
            <p:ph type="ctrTitle"/>
          </p:nvPr>
        </p:nvSpPr>
        <p:spPr>
          <a:xfrm>
            <a:off x="520700" y="2425700"/>
            <a:ext cx="10962900" cy="1244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3" name="Google Shape;13;g389a3049542_0_51"/>
          <p:cNvSpPr txBox="1"/>
          <p:nvPr>
            <p:ph idx="1" type="subTitle"/>
          </p:nvPr>
        </p:nvSpPr>
        <p:spPr>
          <a:xfrm>
            <a:off x="520700" y="3718840"/>
            <a:ext cx="10962900" cy="57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g389a3049542_0_51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89a3049542_0_57"/>
          <p:cNvSpPr txBox="1"/>
          <p:nvPr>
            <p:ph type="title"/>
          </p:nvPr>
        </p:nvSpPr>
        <p:spPr>
          <a:xfrm>
            <a:off x="614600" y="2753800"/>
            <a:ext cx="10962900" cy="1350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7" name="Google Shape;17;g389a3049542_0_57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89a3049542_0_60"/>
          <p:cNvSpPr/>
          <p:nvPr/>
        </p:nvSpPr>
        <p:spPr>
          <a:xfrm flipH="1" rot="10800000">
            <a:off x="0" y="2247900"/>
            <a:ext cx="12192000" cy="461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g389a3049542_0_60"/>
          <p:cNvSpPr/>
          <p:nvPr/>
        </p:nvSpPr>
        <p:spPr>
          <a:xfrm>
            <a:off x="0" y="2248000"/>
            <a:ext cx="12192000" cy="1449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g389a3049542_0_60"/>
          <p:cNvSpPr txBox="1"/>
          <p:nvPr>
            <p:ph type="title"/>
          </p:nvPr>
        </p:nvSpPr>
        <p:spPr>
          <a:xfrm>
            <a:off x="629200" y="984967"/>
            <a:ext cx="10962900" cy="1023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22" name="Google Shape;22;g389a3049542_0_60"/>
          <p:cNvSpPr txBox="1"/>
          <p:nvPr>
            <p:ph idx="1" type="body"/>
          </p:nvPr>
        </p:nvSpPr>
        <p:spPr>
          <a:xfrm>
            <a:off x="629200" y="2558767"/>
            <a:ext cx="10962900" cy="361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g389a3049542_0_60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89a3049542_0_66"/>
          <p:cNvSpPr/>
          <p:nvPr/>
        </p:nvSpPr>
        <p:spPr>
          <a:xfrm flipH="1" rot="10800000">
            <a:off x="0" y="2247900"/>
            <a:ext cx="12192000" cy="461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g389a3049542_0_66"/>
          <p:cNvSpPr/>
          <p:nvPr/>
        </p:nvSpPr>
        <p:spPr>
          <a:xfrm>
            <a:off x="0" y="2248000"/>
            <a:ext cx="12192000" cy="1449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89a3049542_0_66"/>
          <p:cNvSpPr txBox="1"/>
          <p:nvPr>
            <p:ph type="title"/>
          </p:nvPr>
        </p:nvSpPr>
        <p:spPr>
          <a:xfrm>
            <a:off x="629200" y="984967"/>
            <a:ext cx="10962900" cy="1023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28" name="Google Shape;28;g389a3049542_0_66"/>
          <p:cNvSpPr txBox="1"/>
          <p:nvPr>
            <p:ph idx="1" type="body"/>
          </p:nvPr>
        </p:nvSpPr>
        <p:spPr>
          <a:xfrm>
            <a:off x="629200" y="2558767"/>
            <a:ext cx="5333100" cy="361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9" name="Google Shape;29;g389a3049542_0_66"/>
          <p:cNvSpPr txBox="1"/>
          <p:nvPr>
            <p:ph idx="2" type="body"/>
          </p:nvPr>
        </p:nvSpPr>
        <p:spPr>
          <a:xfrm>
            <a:off x="6259000" y="2558767"/>
            <a:ext cx="5333100" cy="361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0" name="Google Shape;30;g389a3049542_0_66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89a3049542_0_73"/>
          <p:cNvSpPr/>
          <p:nvPr/>
        </p:nvSpPr>
        <p:spPr>
          <a:xfrm flipH="1" rot="10800000">
            <a:off x="0" y="875100"/>
            <a:ext cx="12192000" cy="598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g389a3049542_0_73"/>
          <p:cNvSpPr/>
          <p:nvPr/>
        </p:nvSpPr>
        <p:spPr>
          <a:xfrm>
            <a:off x="0" y="875133"/>
            <a:ext cx="12192000" cy="1449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89a3049542_0_73"/>
          <p:cNvSpPr txBox="1"/>
          <p:nvPr>
            <p:ph type="title"/>
          </p:nvPr>
        </p:nvSpPr>
        <p:spPr>
          <a:xfrm>
            <a:off x="131000" y="21800"/>
            <a:ext cx="11768700" cy="80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g389a3049542_0_73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89a3049542_0_78"/>
          <p:cNvSpPr txBox="1"/>
          <p:nvPr/>
        </p:nvSpPr>
        <p:spPr>
          <a:xfrm flipH="1" rot="10800000">
            <a:off x="4368800" y="33"/>
            <a:ext cx="78231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89a3049542_0_78"/>
          <p:cNvSpPr/>
          <p:nvPr/>
        </p:nvSpPr>
        <p:spPr>
          <a:xfrm rot="-5400000">
            <a:off x="1012250" y="3356550"/>
            <a:ext cx="6858000" cy="1449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g389a3049542_0_78"/>
          <p:cNvSpPr txBox="1"/>
          <p:nvPr>
            <p:ph type="title"/>
          </p:nvPr>
        </p:nvSpPr>
        <p:spPr>
          <a:xfrm>
            <a:off x="301437" y="477067"/>
            <a:ext cx="3744000" cy="1271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0" name="Google Shape;40;g389a3049542_0_78"/>
          <p:cNvSpPr txBox="1"/>
          <p:nvPr>
            <p:ph idx="1" type="body"/>
          </p:nvPr>
        </p:nvSpPr>
        <p:spPr>
          <a:xfrm>
            <a:off x="301433" y="1954400"/>
            <a:ext cx="3744000" cy="4218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g389a3049542_0_78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89a3049542_0_84"/>
          <p:cNvSpPr txBox="1"/>
          <p:nvPr>
            <p:ph type="title"/>
          </p:nvPr>
        </p:nvSpPr>
        <p:spPr>
          <a:xfrm>
            <a:off x="653667" y="651000"/>
            <a:ext cx="83028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44" name="Google Shape;44;g389a3049542_0_84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89a3049542_0_87"/>
          <p:cNvSpPr/>
          <p:nvPr/>
        </p:nvSpPr>
        <p:spPr>
          <a:xfrm flipH="1">
            <a:off x="0" y="0"/>
            <a:ext cx="6096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89a3049542_0_87"/>
          <p:cNvSpPr/>
          <p:nvPr/>
        </p:nvSpPr>
        <p:spPr>
          <a:xfrm rot="5400000">
            <a:off x="2595233" y="3356900"/>
            <a:ext cx="6857100" cy="1449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389a3049542_0_87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g389a3049542_0_87"/>
          <p:cNvSpPr txBox="1"/>
          <p:nvPr>
            <p:ph idx="1" type="subTitle"/>
          </p:nvPr>
        </p:nvSpPr>
        <p:spPr>
          <a:xfrm>
            <a:off x="354000" y="3705956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0" name="Google Shape;50;g389a3049542_0_87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g389a3049542_0_87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89a3049542_0_94"/>
          <p:cNvSpPr txBox="1"/>
          <p:nvPr/>
        </p:nvSpPr>
        <p:spPr>
          <a:xfrm flipH="1" rot="10800000">
            <a:off x="0" y="-100"/>
            <a:ext cx="12192000" cy="6261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89a3049542_0_94"/>
          <p:cNvSpPr/>
          <p:nvPr/>
        </p:nvSpPr>
        <p:spPr>
          <a:xfrm flipH="1" rot="10800000">
            <a:off x="0" y="6163733"/>
            <a:ext cx="12192000" cy="987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89a3049542_0_94"/>
          <p:cNvSpPr txBox="1"/>
          <p:nvPr>
            <p:ph idx="1" type="body"/>
          </p:nvPr>
        </p:nvSpPr>
        <p:spPr>
          <a:xfrm>
            <a:off x="76200" y="6262433"/>
            <a:ext cx="11175900" cy="595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g389a3049542_0_94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9a3049542_0_99"/>
          <p:cNvSpPr txBox="1"/>
          <p:nvPr>
            <p:ph hasCustomPrompt="1" type="title"/>
          </p:nvPr>
        </p:nvSpPr>
        <p:spPr>
          <a:xfrm>
            <a:off x="634000" y="1678033"/>
            <a:ext cx="109629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g389a3049542_0_99"/>
          <p:cNvSpPr txBox="1"/>
          <p:nvPr>
            <p:ph idx="1" type="body"/>
          </p:nvPr>
        </p:nvSpPr>
        <p:spPr>
          <a:xfrm>
            <a:off x="634000" y="4406167"/>
            <a:ext cx="109629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0" name="Google Shape;60;g389a3049542_0_99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9a3049542_0_103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89a3049542_0_47"/>
          <p:cNvSpPr txBox="1"/>
          <p:nvPr>
            <p:ph type="title"/>
          </p:nvPr>
        </p:nvSpPr>
        <p:spPr>
          <a:xfrm>
            <a:off x="629200" y="984967"/>
            <a:ext cx="109629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g389a3049542_0_47"/>
          <p:cNvSpPr txBox="1"/>
          <p:nvPr>
            <p:ph idx="1" type="body"/>
          </p:nvPr>
        </p:nvSpPr>
        <p:spPr>
          <a:xfrm>
            <a:off x="629200" y="2558767"/>
            <a:ext cx="10962900" cy="3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Roboto"/>
              <a:buChar char="●"/>
              <a:defRPr sz="2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○"/>
              <a:defRPr sz="1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■"/>
              <a:defRPr sz="1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●"/>
              <a:defRPr sz="1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○"/>
              <a:defRPr sz="1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■"/>
              <a:defRPr sz="1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●"/>
              <a:defRPr sz="1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○"/>
              <a:defRPr sz="1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■"/>
              <a:defRPr sz="1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89a3049542_0_47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rive.google.com/file/d/1NLqvvh1jr7pa56pi1PrsS4R8KAnN5v_a/view?usp=drive_link" TargetMode="External"/><Relationship Id="rId4" Type="http://schemas.openxmlformats.org/officeDocument/2006/relationships/hyperlink" Target="https://drive.google.com/file/d/1NLqvvh1jr7pa56pi1PrsS4R8KAnN5v_a/view?usp=drive_link" TargetMode="External"/><Relationship Id="rId5" Type="http://schemas.openxmlformats.org/officeDocument/2006/relationships/hyperlink" Target="https://drive.google.com/file/d/1rvpw63Ly1BH_4UN2K3qZvXwhWg35sWUO/view?usp=drive_link" TargetMode="External"/><Relationship Id="rId6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rive.google.com/file/d/1MQtgSfuC5wfN8SQ9riiI1rT_8jJWf9s8/view?usp=drive_link" TargetMode="External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1419575" y="1395076"/>
            <a:ext cx="9144000" cy="1284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8235"/>
              <a:buFont typeface="Calibri"/>
              <a:buNone/>
            </a:pPr>
            <a:r>
              <a:rPr lang="es-CL">
                <a:latin typeface="Poppins"/>
                <a:ea typeface="Poppins"/>
                <a:cs typeface="Poppins"/>
                <a:sym typeface="Poppins"/>
              </a:rPr>
              <a:t>Presentación Capstone</a:t>
            </a:r>
            <a:br>
              <a:rPr lang="es-CL"/>
            </a:br>
            <a:r>
              <a:rPr b="1" lang="es-CL" sz="4000">
                <a:solidFill>
                  <a:srgbClr val="0000FF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“GIFTER’S”</a:t>
            </a:r>
            <a:endParaRPr b="1" sz="6800">
              <a:solidFill>
                <a:srgbClr val="0000FF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2025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pic>
        <p:nvPicPr>
          <p:cNvPr id="69" name="Google Shape;69;p1" title="Tecnología.png"/>
          <p:cNvPicPr preferRelativeResize="0"/>
          <p:nvPr/>
        </p:nvPicPr>
        <p:blipFill rotWithShape="1">
          <a:blip r:embed="rId3">
            <a:alphaModFix/>
          </a:blip>
          <a:srcRect b="30559" l="35769" r="42758" t="19303"/>
          <a:stretch/>
        </p:blipFill>
        <p:spPr>
          <a:xfrm rot="-550916">
            <a:off x="7339852" y="2266354"/>
            <a:ext cx="790797" cy="911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" name="Google Shape;75;p2"/>
          <p:cNvGrpSpPr/>
          <p:nvPr/>
        </p:nvGrpSpPr>
        <p:grpSpPr>
          <a:xfrm>
            <a:off x="4538475" y="1000462"/>
            <a:ext cx="6781052" cy="4530917"/>
            <a:chOff x="0" y="0"/>
            <a:chExt cx="6781052" cy="4590130"/>
          </a:xfrm>
        </p:grpSpPr>
        <p:sp>
          <p:nvSpPr>
            <p:cNvPr id="76" name="Google Shape;76;p2"/>
            <p:cNvSpPr/>
            <p:nvPr/>
          </p:nvSpPr>
          <p:spPr>
            <a:xfrm>
              <a:off x="0" y="0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 txBox="1"/>
            <p:nvPr/>
          </p:nvSpPr>
          <p:spPr>
            <a:xfrm>
              <a:off x="1462952" y="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Elias Alcaide</a:t>
              </a:r>
              <a:endParaRPr b="0" i="0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</a:t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06749" y="106749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0" y="1174243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 txBox="1"/>
            <p:nvPr/>
          </p:nvSpPr>
          <p:spPr>
            <a:xfrm>
              <a:off x="1462952" y="1174243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Javier Valenzuela</a:t>
              </a:r>
              <a:endParaRPr b="0" i="0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Administrador BD</a:t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06749" y="1280992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0" y="2348487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 txBox="1"/>
            <p:nvPr/>
          </p:nvSpPr>
          <p:spPr>
            <a:xfrm>
              <a:off x="1462952" y="2348487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Matias Quezada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Diseñador</a:t>
              </a:r>
              <a:endParaRPr/>
            </a:p>
            <a:p>
              <a:pPr indent="0" lvl="0" marL="91440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06749" y="2455236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0" y="3522730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"/>
            <p:cNvSpPr txBox="1"/>
            <p:nvPr/>
          </p:nvSpPr>
          <p:spPr>
            <a:xfrm>
              <a:off x="1462952" y="352273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lang="es-CL" sz="2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Matias Dominguez</a:t>
              </a:r>
              <a:endParaRPr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Calidad y testing</a:t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06749" y="3629480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2"/>
          <p:cNvSpPr/>
          <p:nvPr/>
        </p:nvSpPr>
        <p:spPr>
          <a:xfrm>
            <a:off x="4538538" y="5646549"/>
            <a:ext cx="6780900" cy="1053600"/>
          </a:xfrm>
          <a:prstGeom prst="roundRect">
            <a:avLst>
              <a:gd fmla="val 10000" name="adj"/>
            </a:avLst>
          </a:prstGeom>
          <a:gradFill>
            <a:gsLst>
              <a:gs pos="0">
                <a:srgbClr val="5E81C9"/>
              </a:gs>
              <a:gs pos="50000">
                <a:srgbClr val="3B70C9"/>
              </a:gs>
              <a:gs pos="100000">
                <a:srgbClr val="2E60B8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5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4653899" y="5751847"/>
            <a:ext cx="1356300" cy="843000"/>
          </a:xfrm>
          <a:prstGeom prst="roundRect">
            <a:avLst>
              <a:gd fmla="val 10000" name="adj"/>
            </a:avLst>
          </a:prstGeom>
          <a:solidFill>
            <a:srgbClr val="BFC8E3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5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"/>
          <p:cNvSpPr txBox="1"/>
          <p:nvPr/>
        </p:nvSpPr>
        <p:spPr>
          <a:xfrm>
            <a:off x="6010202" y="5646549"/>
            <a:ext cx="5318100" cy="10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s-CL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Lukass Acuña</a:t>
            </a:r>
            <a:endParaRPr b="0" i="0" sz="2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171450" marR="0" rtl="0" algn="l">
              <a:lnSpc>
                <a:spcPct val="90000"/>
              </a:lnSpc>
              <a:spcBef>
                <a:spcPts val="735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lang="es-CL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Analista programador</a:t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2" title="Tecnología.png"/>
          <p:cNvPicPr preferRelativeResize="0"/>
          <p:nvPr/>
        </p:nvPicPr>
        <p:blipFill rotWithShape="1">
          <a:blip r:embed="rId3">
            <a:alphaModFix/>
          </a:blip>
          <a:srcRect b="30559" l="35769" r="42758" t="19303"/>
          <a:stretch/>
        </p:blipFill>
        <p:spPr>
          <a:xfrm>
            <a:off x="11508500" y="0"/>
            <a:ext cx="683500" cy="78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>
                <a:solidFill>
                  <a:schemeClr val="dk1"/>
                </a:solidFill>
              </a:rPr>
              <a:t>Descripción del Proyecto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714875" y="1828800"/>
            <a:ext cx="4427400" cy="48561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</a:t>
            </a: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Muchas personas sienten incertidumbre al elegir un regalo adecuado, lo que genera estrés y pérdida de tiempo. Actualmente no existe una plataforma que centralice gustos, listas de deseos y eventos de forma simple y social.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867200" y="1828800"/>
            <a:ext cx="4641300" cy="48561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</a:t>
            </a:r>
            <a:b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Gifter’s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una plataforma que centraliza listas de deseos y eventos, recomendando regalos según los gustos del usuario para hacer más fácil y acertado el acto de regalar.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3" title="Tecnología.png"/>
          <p:cNvPicPr preferRelativeResize="0"/>
          <p:nvPr/>
        </p:nvPicPr>
        <p:blipFill rotWithShape="1">
          <a:blip r:embed="rId3">
            <a:alphaModFix/>
          </a:blip>
          <a:srcRect b="30559" l="35769" r="42758" t="19303"/>
          <a:stretch/>
        </p:blipFill>
        <p:spPr>
          <a:xfrm>
            <a:off x="11508500" y="0"/>
            <a:ext cx="683500" cy="788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3945" y="4551850"/>
            <a:ext cx="1829400" cy="19404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12D74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02" name="Google Shape;102;p3"/>
          <p:cNvPicPr preferRelativeResize="0"/>
          <p:nvPr/>
        </p:nvPicPr>
        <p:blipFill rotWithShape="1">
          <a:blip r:embed="rId5">
            <a:alphaModFix/>
          </a:blip>
          <a:srcRect b="-1440" l="0" r="0" t="1439"/>
          <a:stretch/>
        </p:blipFill>
        <p:spPr>
          <a:xfrm>
            <a:off x="8190237" y="4376300"/>
            <a:ext cx="1995213" cy="2062701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12D74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/>
          <p:nvPr/>
        </p:nvSpPr>
        <p:spPr>
          <a:xfrm>
            <a:off x="639940" y="2754471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Descripción:Diseñar e implementar una plataforma web social que permita a los usuarios crear, gestionar y compartir listas de deseos, facilitando la elección de regalos y la organización de eventos, mediante una interfaz intuitiva y un sistema de recomendaciones personalizadas.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4" title="Tecnología.png"/>
          <p:cNvPicPr preferRelativeResize="0"/>
          <p:nvPr/>
        </p:nvPicPr>
        <p:blipFill rotWithShape="1">
          <a:blip r:embed="rId3">
            <a:alphaModFix/>
          </a:blip>
          <a:srcRect b="30559" l="35769" r="42758" t="19303"/>
          <a:stretch/>
        </p:blipFill>
        <p:spPr>
          <a:xfrm>
            <a:off x="11508500" y="0"/>
            <a:ext cx="683500" cy="78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9a3049542_0_143"/>
          <p:cNvSpPr txBox="1"/>
          <p:nvPr>
            <p:ph type="title"/>
          </p:nvPr>
        </p:nvSpPr>
        <p:spPr>
          <a:xfrm>
            <a:off x="131000" y="21800"/>
            <a:ext cx="11768700" cy="80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89a3049542_0_143"/>
          <p:cNvSpPr txBox="1"/>
          <p:nvPr/>
        </p:nvSpPr>
        <p:spPr>
          <a:xfrm>
            <a:off x="127050" y="1226000"/>
            <a:ext cx="11937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89a3049542_0_143"/>
          <p:cNvSpPr/>
          <p:nvPr/>
        </p:nvSpPr>
        <p:spPr>
          <a:xfrm>
            <a:off x="533900" y="2200475"/>
            <a:ext cx="10962900" cy="4025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</a:t>
            </a:r>
            <a:b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sistema de autenticación seguro con integración a Google y manejo de perfiles personalizados.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 módulo de wishlist con opciones de agregar, editar, eliminar y compartir listas.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un motor de recomendaciones que sugiera regalos y usuarios basados en interacciones (likes, guardados, “no me interesa”).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Incorporar un módulo social para seguir usuarios, enviar mensajes y gestionar notificaciones.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Permitir la creación y gestión de eventos vinculados a la entrega de regalos (cumpleaños, amigo secreto, etc.).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Asegurar escalabilidad y estabilidad del sistema mediante una arquitectura modular desplegada en Docker con base de datos MySQL.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>
                <a:solidFill>
                  <a:schemeClr val="dk1"/>
                </a:solidFill>
              </a:rPr>
              <a:t>Alcances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914374" y="1664801"/>
            <a:ext cx="100728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b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crear, editar y compartir listas de deseos, seguir a otros usuarios, chatear, organizar eventos y recibir recomendaciones personalizadas de regalos según gustos e interacciones.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gestiona pagos ni envíos de regalos, ni actúa como tienda online. Tampoco integra pasarelas de compra externas en esta versión.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Otros Alcances o restricciones:</a:t>
            </a: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desarrollo se centra en el MVP funcional, con autenticación segura, interfaz responsiva y base de datos MySQL en entorno Docker. Las funciones avanzadas se proyectan para futuras versiones (por ejemplo, integración con e-commerce)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5" title="Tecnología.png"/>
          <p:cNvPicPr preferRelativeResize="0"/>
          <p:nvPr/>
        </p:nvPicPr>
        <p:blipFill rotWithShape="1">
          <a:blip r:embed="rId3">
            <a:alphaModFix/>
          </a:blip>
          <a:srcRect b="30559" l="35769" r="42758" t="19303"/>
          <a:stretch/>
        </p:blipFill>
        <p:spPr>
          <a:xfrm>
            <a:off x="11508500" y="0"/>
            <a:ext cx="683500" cy="78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>
            <p:ph type="title"/>
          </p:nvPr>
        </p:nvSpPr>
        <p:spPr>
          <a:xfrm>
            <a:off x="838191" y="788017"/>
            <a:ext cx="10515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>
                <a:solidFill>
                  <a:schemeClr val="dk1"/>
                </a:solidFill>
              </a:rPr>
              <a:t>Lista de Requerimientos Funcionales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61400" y="1722775"/>
            <a:ext cx="10669200" cy="4954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</a:t>
            </a: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-Registro, login y autenticación (correo y Google).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-Creación, edición y eliminación de wishlists.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-Seguimiento entre usuarios y sistema de amigos.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-Chat y mensajería en tiempo real.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-Creación y gestión de eventos (cumpleaños, amigo secreto, etc.).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-Sistema de recomendaciones personalizadas según gustos e interacciones.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-Publicaciones, comentarios, likes y notificaciones.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-Administración de usuarios, reportes e insignias.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6" title="Tecnología.png"/>
          <p:cNvPicPr preferRelativeResize="0"/>
          <p:nvPr/>
        </p:nvPicPr>
        <p:blipFill rotWithShape="1">
          <a:blip r:embed="rId3">
            <a:alphaModFix/>
          </a:blip>
          <a:srcRect b="30559" l="35769" r="42758" t="19303"/>
          <a:stretch/>
        </p:blipFill>
        <p:spPr>
          <a:xfrm>
            <a:off x="11508500" y="0"/>
            <a:ext cx="683500" cy="78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>
            <p:ph type="title"/>
          </p:nvPr>
        </p:nvSpPr>
        <p:spPr>
          <a:xfrm>
            <a:off x="841416" y="1054443"/>
            <a:ext cx="10515600" cy="723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>
                <a:solidFill>
                  <a:schemeClr val="dk1"/>
                </a:solidFill>
              </a:rPr>
              <a:t>Lista de Requerimientos No Funcionales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948344" y="1988457"/>
            <a:ext cx="10314742" cy="422365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</a:t>
            </a: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-Intuitivo: interfaz simple y fácil de usar.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-Eficiente: tiempos de carga menores a 2 segundos por acción.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-Seguro: autenticación JWT, cifrado TLS y validación de formularios.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-Estable: funcionamiento continuo durante picos de uso.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Escalable: preparado para crecer hasta miles de usuarios sin rediseño.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-Adaptable: diseño responsivo para desktop, tablet y móvil.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7" title="Tecnología.png"/>
          <p:cNvPicPr preferRelativeResize="0"/>
          <p:nvPr/>
        </p:nvPicPr>
        <p:blipFill rotWithShape="1">
          <a:blip r:embed="rId3">
            <a:alphaModFix/>
          </a:blip>
          <a:srcRect b="30559" l="35769" r="42758" t="19303"/>
          <a:stretch/>
        </p:blipFill>
        <p:spPr>
          <a:xfrm>
            <a:off x="11508500" y="0"/>
            <a:ext cx="683500" cy="78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/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>
                <a:solidFill>
                  <a:schemeClr val="dk1"/>
                </a:solidFill>
              </a:rPr>
              <a:t>Diseño del Sistema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757367" y="1848356"/>
            <a:ext cx="99906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Modelo Datos Relacional</a:t>
            </a:r>
            <a:r>
              <a:rPr lang="es-CL" sz="2200" u="sng">
                <a:solidFill>
                  <a:schemeClr val="hlink"/>
                </a:solidFill>
                <a:hlinkClick r:id="rId4"/>
              </a:rPr>
              <a:t> Desnormalizado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u="sng">
                <a:solidFill>
                  <a:schemeClr val="hlink"/>
                </a:solidFill>
                <a:hlinkClick r:id="rId5"/>
              </a:rPr>
              <a:t>Modelo Datos Relacional Normalizado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8" title="Tecnología.png"/>
          <p:cNvPicPr preferRelativeResize="0"/>
          <p:nvPr/>
        </p:nvPicPr>
        <p:blipFill rotWithShape="1">
          <a:blip r:embed="rId6">
            <a:alphaModFix/>
          </a:blip>
          <a:srcRect b="30559" l="35769" r="42758" t="19303"/>
          <a:stretch/>
        </p:blipFill>
        <p:spPr>
          <a:xfrm>
            <a:off x="11508500" y="0"/>
            <a:ext cx="683500" cy="78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>
                <a:solidFill>
                  <a:schemeClr val="dk1"/>
                </a:solidFill>
              </a:rPr>
              <a:t>Diseño del Sistema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725714" y="1712687"/>
            <a:ext cx="108249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Diagrama de Caso Uso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9" title="Tecnología.png"/>
          <p:cNvPicPr preferRelativeResize="0"/>
          <p:nvPr/>
        </p:nvPicPr>
        <p:blipFill rotWithShape="1">
          <a:blip r:embed="rId4">
            <a:alphaModFix/>
          </a:blip>
          <a:srcRect b="30559" l="35769" r="42758" t="19303"/>
          <a:stretch/>
        </p:blipFill>
        <p:spPr>
          <a:xfrm>
            <a:off x="11508500" y="0"/>
            <a:ext cx="683500" cy="78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 txBox="1"/>
          <p:nvPr>
            <p:ph type="title"/>
          </p:nvPr>
        </p:nvSpPr>
        <p:spPr>
          <a:xfrm>
            <a:off x="663024" y="937883"/>
            <a:ext cx="10515600" cy="636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>
                <a:solidFill>
                  <a:schemeClr val="dk1"/>
                </a:solidFill>
              </a:rPr>
              <a:t>Arquitectura del Sistema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" name="Google Shape;157;p10"/>
          <p:cNvSpPr txBox="1"/>
          <p:nvPr/>
        </p:nvSpPr>
        <p:spPr>
          <a:xfrm>
            <a:off x="663025" y="1676399"/>
            <a:ext cx="108249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Patrón arquitectónico seleccionado para el desarrollo y Diagrama Vista Física: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adopta una arquitectura cliente–servidor, donde el backend se desarrolla con Django REST Framework bajo el patrón MVT (Modelo–Vista–Template) y el frontend consume la API mediante peticiones HTTP.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solución se despliega en contenedores Docker, lo que permite un entorno modular, reproducible y fácilmente escalable, facilitando la integración entre servicios como la base de datos MySQL.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0" title="Tecnología.png"/>
          <p:cNvPicPr preferRelativeResize="0"/>
          <p:nvPr/>
        </p:nvPicPr>
        <p:blipFill rotWithShape="1">
          <a:blip r:embed="rId3">
            <a:alphaModFix/>
          </a:blip>
          <a:srcRect b="30559" l="35769" r="42758" t="19303"/>
          <a:stretch/>
        </p:blipFill>
        <p:spPr>
          <a:xfrm>
            <a:off x="11508500" y="0"/>
            <a:ext cx="683500" cy="78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9a3049542_0_192"/>
          <p:cNvSpPr txBox="1"/>
          <p:nvPr>
            <p:ph type="title"/>
          </p:nvPr>
        </p:nvSpPr>
        <p:spPr>
          <a:xfrm>
            <a:off x="131000" y="21800"/>
            <a:ext cx="11768700" cy="80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Modelo Vista Template</a:t>
            </a:r>
            <a:endParaRPr/>
          </a:p>
        </p:txBody>
      </p:sp>
      <p:pic>
        <p:nvPicPr>
          <p:cNvPr id="164" name="Google Shape;164;g389a3049542_0_192" title="vista_fisica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798" y="1545598"/>
            <a:ext cx="11824425" cy="432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89a3049542_0_192"/>
          <p:cNvSpPr txBox="1"/>
          <p:nvPr/>
        </p:nvSpPr>
        <p:spPr>
          <a:xfrm>
            <a:off x="650500" y="5984500"/>
            <a:ext cx="30852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Para el futuro Uvicorn/daphne</a:t>
            </a:r>
            <a:endParaRPr sz="1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g389a3049542_0_192"/>
          <p:cNvSpPr txBox="1"/>
          <p:nvPr/>
        </p:nvSpPr>
        <p:spPr>
          <a:xfrm>
            <a:off x="576150" y="5538425"/>
            <a:ext cx="42003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Cliente:T;V;M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 txBox="1"/>
          <p:nvPr>
            <p:ph type="title"/>
          </p:nvPr>
        </p:nvSpPr>
        <p:spPr>
          <a:xfrm>
            <a:off x="706567" y="901597"/>
            <a:ext cx="10515600" cy="586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>
                <a:solidFill>
                  <a:schemeClr val="dk1"/>
                </a:solidFill>
              </a:rPr>
              <a:t>Arquitectura del Sistema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" name="Google Shape;172;p11"/>
          <p:cNvSpPr txBox="1"/>
          <p:nvPr/>
        </p:nvSpPr>
        <p:spPr>
          <a:xfrm>
            <a:off x="757367" y="1558071"/>
            <a:ext cx="9894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 de Actividades (incluir solo aquellos 3 más importantes del negocio)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11" title="Tecnología.png"/>
          <p:cNvPicPr preferRelativeResize="0"/>
          <p:nvPr/>
        </p:nvPicPr>
        <p:blipFill rotWithShape="1">
          <a:blip r:embed="rId3">
            <a:alphaModFix/>
          </a:blip>
          <a:srcRect b="30559" l="35769" r="42758" t="19303"/>
          <a:stretch/>
        </p:blipFill>
        <p:spPr>
          <a:xfrm>
            <a:off x="11508500" y="0"/>
            <a:ext cx="683500" cy="788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9950" y="2084800"/>
            <a:ext cx="3956475" cy="398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4700" y="2084801"/>
            <a:ext cx="5817236" cy="398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9a3049542_0_179"/>
          <p:cNvSpPr txBox="1"/>
          <p:nvPr>
            <p:ph type="title"/>
          </p:nvPr>
        </p:nvSpPr>
        <p:spPr>
          <a:xfrm>
            <a:off x="131000" y="21800"/>
            <a:ext cx="11768700" cy="80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g389a3049542_0_1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800" y="1132575"/>
            <a:ext cx="10849101" cy="548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>
                <a:solidFill>
                  <a:schemeClr val="dk1"/>
                </a:solidFill>
              </a:rPr>
              <a:t>Tecnologías del Desarrollo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" name="Google Shape;187;p12"/>
          <p:cNvSpPr txBox="1"/>
          <p:nvPr/>
        </p:nvSpPr>
        <p:spPr>
          <a:xfrm>
            <a:off x="641252" y="1828016"/>
            <a:ext cx="10861200" cy="7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Breve descripción de las tecnologías y versiones utilizadas para el desarrollo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-Backend: Django 5.0 + Django REST Framework (Python 3.9)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-Frontend: HTML5, CSS3, JavaScript y Bootstrap 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-Base de datos: MySQL 8.0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-Mensajería y cache: Redis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-Servidor de aplicación: Daphne + Nginx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-Contenedores y despliegue: Docker / Docker Compose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-Control de versiones: Git y GitHub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-Entorno de desarrollo: Visual Studio Code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12" title="Tecnología.png"/>
          <p:cNvPicPr preferRelativeResize="0"/>
          <p:nvPr/>
        </p:nvPicPr>
        <p:blipFill rotWithShape="1">
          <a:blip r:embed="rId3">
            <a:alphaModFix/>
          </a:blip>
          <a:srcRect b="30559" l="35769" r="42758" t="19303"/>
          <a:stretch/>
        </p:blipFill>
        <p:spPr>
          <a:xfrm>
            <a:off x="11508500" y="0"/>
            <a:ext cx="683500" cy="78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"/>
          <p:cNvSpPr txBox="1"/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>
                <a:solidFill>
                  <a:schemeClr val="dk1"/>
                </a:solidFill>
              </a:rPr>
              <a:t>Planificación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4" name="Google Shape;194;p13"/>
          <p:cNvSpPr txBox="1"/>
          <p:nvPr/>
        </p:nvSpPr>
        <p:spPr>
          <a:xfrm>
            <a:off x="894400" y="1741553"/>
            <a:ext cx="829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de los hitos significativos del proyecto </a:t>
            </a:r>
            <a:endParaRPr/>
          </a:p>
        </p:txBody>
      </p:sp>
      <p:pic>
        <p:nvPicPr>
          <p:cNvPr id="195" name="Google Shape;195;p13" title="Tecnología.png"/>
          <p:cNvPicPr preferRelativeResize="0"/>
          <p:nvPr/>
        </p:nvPicPr>
        <p:blipFill rotWithShape="1">
          <a:blip r:embed="rId3">
            <a:alphaModFix/>
          </a:blip>
          <a:srcRect b="30559" l="35769" r="42758" t="19303"/>
          <a:stretch/>
        </p:blipFill>
        <p:spPr>
          <a:xfrm>
            <a:off x="11508500" y="0"/>
            <a:ext cx="683500" cy="78802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3"/>
          <p:cNvSpPr txBox="1"/>
          <p:nvPr/>
        </p:nvSpPr>
        <p:spPr>
          <a:xfrm>
            <a:off x="1013350" y="2190475"/>
            <a:ext cx="105837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13–21 de agosto: definición del proyecto, requerimientos y arquitectura.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25–29 de agosto: diseño de logo, mockups y documentos base.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1–12 de septiembre: desarrollo de frontend y conexión con base de datos.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15–29 de septiembre: implementación de funcionalidades clave y despliegue en Docker.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01–02 de octubre: integración del sistema, pruebas y documentación del proyecto.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/>
          <p:cNvSpPr txBox="1"/>
          <p:nvPr>
            <p:ph type="title"/>
          </p:nvPr>
        </p:nvSpPr>
        <p:spPr>
          <a:xfrm>
            <a:off x="710252" y="775322"/>
            <a:ext cx="10515600" cy="1118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>
                <a:solidFill>
                  <a:schemeClr val="dk1"/>
                </a:solidFill>
              </a:rPr>
              <a:t>Resumen de Costos Estimados del Proyecto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2" name="Google Shape;202;p14" title="Tecnología.png"/>
          <p:cNvPicPr preferRelativeResize="0"/>
          <p:nvPr/>
        </p:nvPicPr>
        <p:blipFill rotWithShape="1">
          <a:blip r:embed="rId3">
            <a:alphaModFix/>
          </a:blip>
          <a:srcRect b="30559" l="35769" r="42758" t="19303"/>
          <a:stretch/>
        </p:blipFill>
        <p:spPr>
          <a:xfrm>
            <a:off x="11508500" y="0"/>
            <a:ext cx="683500" cy="78802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4"/>
          <p:cNvSpPr txBox="1"/>
          <p:nvPr/>
        </p:nvSpPr>
        <p:spPr>
          <a:xfrm>
            <a:off x="710250" y="1729850"/>
            <a:ext cx="9253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proyecto considera un presupuesto total estimado de $5.871.000 CLP, correspondiente al equipamiento de los desarrolladores (hardware utilizado durante el desarrollo).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existen gastos en licencias ni software, ya que se utilizaron exclusivamente herramientas open source como Django, MySQL y Docker.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"/>
          <p:cNvSpPr txBox="1"/>
          <p:nvPr/>
        </p:nvSpPr>
        <p:spPr>
          <a:xfrm>
            <a:off x="565108" y="137222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del sistema desarrollado en vivo </a:t>
            </a:r>
            <a:endParaRPr/>
          </a:p>
        </p:txBody>
      </p:sp>
      <p:pic>
        <p:nvPicPr>
          <p:cNvPr id="209" name="Google Shape;209;p15" title="Tecnología.png"/>
          <p:cNvPicPr preferRelativeResize="0"/>
          <p:nvPr/>
        </p:nvPicPr>
        <p:blipFill rotWithShape="1">
          <a:blip r:embed="rId3">
            <a:alphaModFix/>
          </a:blip>
          <a:srcRect b="30559" l="35769" r="42758" t="19303"/>
          <a:stretch/>
        </p:blipFill>
        <p:spPr>
          <a:xfrm>
            <a:off x="11508500" y="0"/>
            <a:ext cx="683500" cy="78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