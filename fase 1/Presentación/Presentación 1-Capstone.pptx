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JGjbXvFeTxblkoI8n3zn1S9tv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383B39-5306-49C3-9625-EEAD50AC166F}">
  <a:tblStyle styleId="{9A383B39-5306-49C3-9625-EEAD50AC16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7cd9d6b829_0_4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1" name="Google Shape;11;g37cd9d6b829_0_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7cd9d6b829_0_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7cd9d6b829_0_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7cd9d6b829_0_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7cd9d6b829_0_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7cd9d6b829_0_4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7cd9d6b829_0_4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7cd9d6b829_0_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7cd9d6b829_0_14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1" name="Google Shape;21;g37cd9d6b829_0_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7cd9d6b829_0_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7cd9d6b829_0_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7cd9d6b829_0_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7cd9d6b829_0_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g37cd9d6b829_0_14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7cd9d6b829_0_1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g37cd9d6b829_0_23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0" name="Google Shape;30;g37cd9d6b829_0_23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7cd9d6b829_0_23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7cd9d6b829_0_23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7cd9d6b829_0_23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7cd9d6b829_0_23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g37cd9d6b829_0_2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g37cd9d6b829_0_23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7" name="Google Shape;37;g37cd9d6b829_0_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7cd9d6b829_0_3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g37cd9d6b829_0_33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g37cd9d6b829_0_33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7cd9d6b829_0_3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cd9d6b829_0_3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5" name="Google Shape;45;g37cd9d6b829_0_3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7cd9d6b829_0_41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8" name="Google Shape;48;g37cd9d6b829_0_41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" name="Google Shape;49;g37cd9d6b829_0_4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g37cd9d6b829_0_4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2" name="Google Shape;52;g37cd9d6b829_0_4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g37cd9d6b829_0_4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g37cd9d6b829_0_4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7cd9d6b829_0_4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37cd9d6b829_0_4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g37cd9d6b829_0_45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7cd9d6b829_0_4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cd9d6b829_0_54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g37cd9d6b829_0_54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7cd9d6b829_0_54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3" name="Google Shape;63;g37cd9d6b829_0_54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g37cd9d6b829_0_54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7cd9d6b829_0_5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cd9d6b829_0_61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8" name="Google Shape;68;g37cd9d6b829_0_6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7cd9d6b829_0_64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1" name="Google Shape;71;g37cd9d6b829_0_6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7cd9d6b829_0_6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7cd9d6b829_0_6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7cd9d6b829_0_6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7cd9d6b829_0_6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g37cd9d6b829_0_64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g37cd9d6b829_0_64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g37cd9d6b829_0_6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cd9d6b829_0_7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cd9d6b829_0_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7cd9d6b829_0_0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7cd9d6b829_0_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3053"/>
              <a:buFont typeface="Calibri"/>
              <a:buNone/>
            </a:pPr>
            <a:r>
              <a:rPr lang="es-CL" sz="5822"/>
              <a:t>Presentación Portafolio </a:t>
            </a:r>
            <a:r>
              <a:rPr lang="es-CL" sz="5822"/>
              <a:t>Título</a:t>
            </a:r>
            <a:br>
              <a:rPr lang="es-CL"/>
            </a:br>
            <a:r>
              <a:rPr b="1" lang="es-CL" sz="6977"/>
              <a:t>“Gifter’s”</a:t>
            </a:r>
            <a:endParaRPr b="1" sz="9377"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565075" y="3604074"/>
            <a:ext cx="91440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7" name="Google Shape;87;p1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 rot="-550916">
            <a:off x="7761202" y="2049979"/>
            <a:ext cx="790797" cy="911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555827" y="2315666"/>
            <a:ext cx="2993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3929925" y="579162"/>
            <a:ext cx="6781017" cy="4531010"/>
            <a:chOff x="0" y="0"/>
            <a:chExt cx="6781017" cy="4590224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Elias Alcaide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Javier Valenzuela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BD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Matias Quezada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/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Matias Dominguez</a:t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3929988" y="5225249"/>
            <a:ext cx="6780900" cy="1053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5E81C9"/>
              </a:gs>
              <a:gs pos="50000">
                <a:srgbClr val="3B70C9"/>
              </a:gs>
              <a:gs pos="100000">
                <a:srgbClr val="2E60B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4045349" y="5330547"/>
            <a:ext cx="1356300" cy="843000"/>
          </a:xfrm>
          <a:prstGeom prst="roundRect">
            <a:avLst>
              <a:gd fmla="val 10000" name="adj"/>
            </a:avLst>
          </a:prstGeom>
          <a:solidFill>
            <a:srgbClr val="BFC8E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401652" y="5225249"/>
            <a:ext cx="531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s-CL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Lukass Acuña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Analista programador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14900" y="2169775"/>
            <a:ext cx="4427400" cy="44109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912075" y="2177325"/>
            <a:ext cx="4641300" cy="4403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413" y="2869075"/>
            <a:ext cx="3286350" cy="34858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-1440" l="0" r="0" t="1439"/>
          <a:stretch/>
        </p:blipFill>
        <p:spPr>
          <a:xfrm>
            <a:off x="7554424" y="2869075"/>
            <a:ext cx="3464449" cy="35816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20" name="Google Shape;120;p3" title="Tecnología.png"/>
          <p:cNvPicPr preferRelativeResize="0"/>
          <p:nvPr/>
        </p:nvPicPr>
        <p:blipFill rotWithShape="1">
          <a:blip r:embed="rId5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614515" y="122952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Desarrollar una red social de recomendaciones de regalos que sea confiable, segura y escalable, facilitando la elección de obsequios significativos mediante un motor híbrido de recomendaciones.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39900" y="3787575"/>
            <a:ext cx="10962900" cy="2351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-Diseñar e implementar un modelo de datos robusto en MySQL.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-Construir un MVP funcional con aplicación web, backend y escritorio.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-Cumplir con requisitos no funcionales: rendimiento, seguridad y accesibilidad.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-Optimizar consultas y rutinas para el motor de recomendaciones.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-Entregar documentación técnica y manuales de usuario.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000" y="287923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52400" y="2972950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914374" y="1664801"/>
            <a:ext cx="100728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s-CL" sz="1500">
                <a:solidFill>
                  <a:schemeClr val="dk1"/>
                </a:solidFill>
              </a:rPr>
              <a:t>Permite crear perfiles de usuario e intereses. 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s-CL" sz="1500">
                <a:solidFill>
                  <a:schemeClr val="dk1"/>
                </a:solidFill>
              </a:rPr>
              <a:t>Gestiona listas de deseos (wishlists) compartidas o privadas. 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s-CL" sz="1500">
                <a:solidFill>
                  <a:schemeClr val="dk1"/>
                </a:solidFill>
              </a:rPr>
              <a:t>Genera recomendaciones personalizadas de regalos con justificación. 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s-CL" sz="1500">
                <a:solidFill>
                  <a:schemeClr val="dk1"/>
                </a:solidFill>
              </a:rPr>
              <a:t>Incluye panel administrativo para gestión de usuarios y catálogos. 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s-CL" sz="1500">
                <a:solidFill>
                  <a:schemeClr val="dk1"/>
                </a:solidFill>
              </a:rPr>
              <a:t>Soporta carga masiva de productos desde archivos Excel.</a:t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-CL">
                <a:solidFill>
                  <a:schemeClr val="dk1"/>
                </a:solidFill>
              </a:rPr>
              <a:t>No considera integración con marketplaces externos.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-CL">
                <a:solidFill>
                  <a:schemeClr val="dk1"/>
                </a:solidFill>
              </a:rPr>
              <a:t>No gestiona transacciones de pago (no es e-commerce).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5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-Miembro: crea perfil, listas y recibe recomendaciones.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-Administrador: gestiona sistema y usuarios.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-Gestor de Catálogo: administra productos y carga masiva.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-Gestor de Comunidad: modera interacciones y reportes.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-Auditor: revisa métricas y genera reportes.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43" name="Google Shape;143;p6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838191" y="51031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-Registro y autenticación de usuarios.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-Creación y gestión de listas de deseos.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-Motor de recomendaciones personalizadas.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-Panel administrativo (usuarios y catálogos).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-Carga masiva de productos vía Excel.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-Seguridad: roles, respaldos y control de accesos.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7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651502" y="616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747092" y="21051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87" y="1143300"/>
            <a:ext cx="5329925" cy="26313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500" y="4032088"/>
            <a:ext cx="5329925" cy="263206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3250" y="4027388"/>
            <a:ext cx="5329925" cy="26414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7875" y="1125463"/>
            <a:ext cx="5400675" cy="266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8" title="Tecnología.png"/>
          <p:cNvPicPr preferRelativeResize="0"/>
          <p:nvPr/>
        </p:nvPicPr>
        <p:blipFill rotWithShape="1">
          <a:blip r:embed="rId7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630977" y="11373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803392" y="2002331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50" y="1038300"/>
            <a:ext cx="5400675" cy="266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450" y="1038300"/>
            <a:ext cx="5400675" cy="266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0" name="Google Shape;17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850" y="3955100"/>
            <a:ext cx="5400675" cy="26574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2450" y="3955100"/>
            <a:ext cx="5400675" cy="266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2" name="Google Shape;172;p9" title="Tecnología.png"/>
          <p:cNvPicPr preferRelativeResize="0"/>
          <p:nvPr/>
        </p:nvPicPr>
        <p:blipFill rotWithShape="1">
          <a:blip r:embed="rId7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1655822" y="2130963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AB4EC"/>
                    </a:gs>
                    <a:gs pos="50000">
                      <a:srgbClr val="8DA8E2"/>
                    </a:gs>
                    <a:gs pos="100000">
                      <a:srgbClr val="789BE3"/>
                    </a:gs>
                  </a:gsLst>
                  <a:lin ang="5400000" scaled="0"/>
                </a:gradFill>
                <a:tableStyleId>{9A383B39-5306-49C3-9625-EEAD50AC166F}</a:tableStyleId>
              </a:tblPr>
              <a:tblGrid>
                <a:gridCol w="3979050"/>
                <a:gridCol w="4901325"/>
              </a:tblGrid>
              <a:tr h="611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</a:rPr>
                        <a:t>fase 1 - Entregables iniciales</a:t>
                      </a:r>
                      <a:endParaRPr b="1"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5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</a:rPr>
                        <a:t>Fase 2 — Documento de Arquitectura</a:t>
                      </a:r>
                      <a:endParaRPr b="1"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8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</a:rPr>
                        <a:t>Fase 2 (parte 2) — Desarrollo completo + documentación</a:t>
                      </a:r>
                      <a:endParaRPr b="1"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15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</a:rPr>
                        <a:t>Fase 3 — Entrega final</a:t>
                      </a:r>
                      <a:endParaRPr b="1"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 17–18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9" name="Google Shape;179;p10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1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11"/>
          <p:cNvGraphicFramePr/>
          <p:nvPr/>
        </p:nvGraphicFramePr>
        <p:xfrm>
          <a:off x="2464725" y="18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{9A383B39-5306-49C3-9625-EEAD50AC166F}</a:tableStyleId>
              </a:tblPr>
              <a:tblGrid>
                <a:gridCol w="2647525"/>
                <a:gridCol w="1821725"/>
                <a:gridCol w="2793300"/>
              </a:tblGrid>
              <a:tr h="72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100">
                          <a:solidFill>
                            <a:schemeClr val="dk1"/>
                          </a:solidFill>
                        </a:rPr>
                        <a:t>Fase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C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100">
                          <a:solidFill>
                            <a:schemeClr val="dk1"/>
                          </a:solidFill>
                        </a:rPr>
                        <a:t>Porcentaje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C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100">
                          <a:solidFill>
                            <a:schemeClr val="dk1"/>
                          </a:solidFill>
                        </a:rPr>
                        <a:t>Horas estimadas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C0EE"/>
                    </a:solidFill>
                  </a:tcPr>
                </a:tc>
              </a:tr>
              <a:tr h="7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Planificación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15%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72 h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Diseño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20%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96 h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Desarrollo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45%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216 h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Pruebas y Cierre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20%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96 h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Total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100%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solidFill>
                            <a:schemeClr val="dk1"/>
                          </a:solidFill>
                        </a:rPr>
                        <a:t>480 h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pic>
        <p:nvPicPr>
          <p:cNvPr id="193" name="Google Shape;193;p12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972162" y="1847743"/>
            <a:ext cx="102477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330802" y="2101791"/>
            <a:ext cx="108612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-Python 3.11 → lógica backend y API.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-Django / FastAPI → framework backend. 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-MySQL 8.0 → base de datos relacional. 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-PyQt6 → aplicación de escritorio. 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-React.js → interfaz web responsiva. 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-GitHub → control de versiones y repositorios.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1700">
                <a:solidFill>
                  <a:schemeClr val="dk1"/>
                </a:solidFill>
              </a:rPr>
              <a:t>Gifter’s</a:t>
            </a:r>
            <a:r>
              <a:rPr b="1" lang="es-CL" sz="1700">
                <a:solidFill>
                  <a:schemeClr val="dk1"/>
                </a:solidFill>
              </a:rPr>
              <a:t> establece las bases de una red social de regalos confiable y escalable, validando su propuesta con un MVP sólido. A futuro, el proyecto puede crecer con apps móviles, integración con e-commerce y algoritmos más avanzados, consolidándose como una plataforma real de descubrimiento y conexión entre usuarios.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3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278150" y="0"/>
            <a:ext cx="913839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