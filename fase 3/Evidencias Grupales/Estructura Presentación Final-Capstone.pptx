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nR8WgrT6lZf6FFJ4jZLKc/q/X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a42d684e5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a42d684e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file/d/1NLqvvh1jr7pa56pi1PrsS4R8KAnN5v_a/view?usp=drive_link" TargetMode="External"/><Relationship Id="rId4" Type="http://schemas.openxmlformats.org/officeDocument/2006/relationships/hyperlink" Target="https://drive.google.com/file/d/1NLqvvh1jr7pa56pi1PrsS4R8KAnN5v_a/view?usp=drive_link" TargetMode="External"/><Relationship Id="rId5" Type="http://schemas.openxmlformats.org/officeDocument/2006/relationships/hyperlink" Target="https://drive.google.com/file/d/1rvpw63Ly1BH_4UN2K3qZvXwhWg35sWUO/view?usp=drive_link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MQtgSfuC5wfN8SQ9riiI1rT_8jJWf9s8/view?usp=drive_link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Final Capstone</a:t>
            </a:r>
            <a:br>
              <a:rPr lang="es-CL"/>
            </a:br>
            <a:r>
              <a:rPr b="1" lang="es-CL" sz="4000">
                <a:solidFill>
                  <a:srgbClr val="0000FF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“GIFTER’S”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538475" y="1000462"/>
            <a:ext cx="6781052" cy="4530917"/>
            <a:chOff x="0" y="0"/>
            <a:chExt cx="6781052" cy="4590130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Elias Alcaide</a:t>
              </a:r>
              <a:endPara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Javier Valenzuela</a:t>
              </a:r>
              <a:endPara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Administrador BD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7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Matias Quezada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Diseñador</a:t>
              </a:r>
              <a:endParaRPr/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0" y="352273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462952" y="352273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Matias Dominguez</a:t>
              </a:r>
              <a:endParaRPr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Calidad y testing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06749" y="3629480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"/>
          <p:cNvSpPr/>
          <p:nvPr/>
        </p:nvSpPr>
        <p:spPr>
          <a:xfrm>
            <a:off x="4538538" y="5646549"/>
            <a:ext cx="6780900" cy="10536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5E81C9"/>
              </a:gs>
              <a:gs pos="50000">
                <a:srgbClr val="3B70C9"/>
              </a:gs>
              <a:gs pos="100000">
                <a:srgbClr val="2E60B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4653899" y="5751847"/>
            <a:ext cx="1356300" cy="843000"/>
          </a:xfrm>
          <a:prstGeom prst="roundRect">
            <a:avLst>
              <a:gd fmla="val 10000" name="adj"/>
            </a:avLst>
          </a:prstGeom>
          <a:solidFill>
            <a:srgbClr val="BFC8E3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6010202" y="5646549"/>
            <a:ext cx="53181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s-CL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Lukass Acuña</a:t>
            </a:r>
            <a:endParaRPr b="0" i="0" sz="2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171450" marR="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lang="es-CL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Analista programador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990599" y="2169769"/>
            <a:ext cx="4254501" cy="337378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b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Muchas personas sienten incertidumbre al elegir un regalo adecuado, lo que genera estrés y pérdida de tiempo. Actualmente no existe una plataforma que centralice gustos, listas de deseos y eventos de forma simple y social.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664635" y="2177325"/>
            <a:ext cx="4399113" cy="3366225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b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Gifter’s </a:t>
            </a: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es una plataforma que centraliza listas de deseos y eventos, recomendando regalos según los gustos del usuario para hacer más fácil y acertado el acto de regalar.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893097" cy="48649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099" y="5127275"/>
            <a:ext cx="1419975" cy="150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12D74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 b="-1440" l="0" r="0" t="1439"/>
          <a:stretch/>
        </p:blipFill>
        <p:spPr>
          <a:xfrm>
            <a:off x="9505475" y="5127276"/>
            <a:ext cx="1419974" cy="1467993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12D74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614515" y="2040571"/>
            <a:ext cx="10962967" cy="138842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Descripción:Diseñar e implementar una plataforma web social que permita a los usuarios crear, gestionar y compartir listas de deseos, facilitando la elección de regalos y la organización de eventos, mediante una interfaz intuitiva y un sistema de recomendaciones personalizadas.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a42d684e5_0_34"/>
          <p:cNvSpPr txBox="1"/>
          <p:nvPr/>
        </p:nvSpPr>
        <p:spPr>
          <a:xfrm>
            <a:off x="127050" y="937875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aa42d684e5_0_34"/>
          <p:cNvSpPr/>
          <p:nvPr/>
        </p:nvSpPr>
        <p:spPr>
          <a:xfrm>
            <a:off x="639925" y="1584362"/>
            <a:ext cx="10962900" cy="455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b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Desarrollar un sistema de autenticación seguro con integración a Google y manejo de perfiles personalizados.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Implementar un módulo de wishlist con opciones de agregar, editar, eliminar y compartir listas.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Diseñar un motor de recomendaciones que sugiera regalos y usuarios basados en interacciones (likes, guardados, “no me interesa”).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Incorporar un módulo social para seguir usuarios, enviar mensajes y gestionar notificaciones.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Permitir la creación y gestión de eventos vinculados a la entrega de regalos (cumpleaños, amigo secreto, etc.).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Asegurar escalabilidad y estabilidad del sistema mediante una arquitectura modular desplegada en Docker con base de datos MySQL.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 y Limitaciones del Proyecto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1031395" y="1560287"/>
            <a:ext cx="100728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b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Permite crear, editar y compartir listas de deseos, seguir a otros usuarios, chatear, organizar eventos y recibir recomendaciones personalizadas de regalos según gustos e interacciones.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b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No gestiona pagos ni envíos de regalos, ni actúa como tienda online. Tampoco integra pasarelas de compra externas en esta versión.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Otros Alcances o restricciones:</a:t>
            </a:r>
            <a:b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El desarrollo se centra en el MVP funcional, con autenticación segura, interfaz responsiva y base de datos MySQL en entorno Docker. Las funciones avanzadas se proyectan para futuras versiones (por ejemplo, integración con e-commerce)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839475" y="1681700"/>
            <a:ext cx="10365600" cy="457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b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-Registro, login y autenticación (correo y Google).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-Creación, edición y eliminación de wishlists.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-Seguimiento entre usuarios y sistema de amigos.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-Chat y mensajería en tiempo real.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-Creación y gestión de eventos (cumpleaños, amigo secreto, etc.).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-Sistema de recomendaciones personalizadas según gustos e interacciones.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-Publicaciones, comentarios, likes y notificaciones.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-Administración de usuarios, reportes e insignias.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841416" y="1054443"/>
            <a:ext cx="10515600" cy="723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948344" y="1988457"/>
            <a:ext cx="10314742" cy="422365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b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-Intuitivo: interfaz simple y fácil de usar.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-Eficiente: tiempos de carga menores a 2 segundos por acción.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-Seguro: autenticación JWT, cifrado TLS y validación de formularios.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-Estable: funcionamiento continuo durante picos de uso.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-Escalable: preparado para crecer hasta miles de usuarios sin rediseño.</a:t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-Adaptable: diseño responsivo para desktop, tablet y móvil.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757367" y="1848356"/>
            <a:ext cx="9990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2600" u="sng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Modelo Datos Relacional</a:t>
            </a:r>
            <a:r>
              <a:rPr lang="es-CL" sz="2200" u="sng">
                <a:solidFill>
                  <a:srgbClr val="1A237E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Desnormalizado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2200" u="sng">
                <a:solidFill>
                  <a:schemeClr val="hlink"/>
                </a:solidFill>
                <a:hlinkClick r:id="rId5"/>
              </a:rPr>
              <a:t>Modelo Datos Relacional Normalizado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58" name="Google Shape;158;p9"/>
          <p:cNvSpPr txBox="1"/>
          <p:nvPr/>
        </p:nvSpPr>
        <p:spPr>
          <a:xfrm>
            <a:off x="725714" y="1712687"/>
            <a:ext cx="108249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2600" u="sng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Diagrama de Caso Uso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64" name="Google Shape;164;p10"/>
          <p:cNvSpPr txBox="1"/>
          <p:nvPr/>
        </p:nvSpPr>
        <p:spPr>
          <a:xfrm>
            <a:off x="641250" y="1828022"/>
            <a:ext cx="10861200" cy="6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Django ult. version (Python)</a:t>
            </a:r>
            <a:r>
              <a:rPr lang="es-CL" sz="1100">
                <a:solidFill>
                  <a:schemeClr val="dk1"/>
                </a:solidFill>
              </a:rPr>
              <a:t>: Framework principal para el desarrollo del backend, encargado de la lógica de negocio, gestión de usuarios, seguridad, modelos de datos y API interna del proyecto.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Python 3.13</a:t>
            </a:r>
            <a:r>
              <a:rPr lang="es-CL" sz="1100">
                <a:solidFill>
                  <a:schemeClr val="dk1"/>
                </a:solidFill>
              </a:rPr>
              <a:t>: Lenguaje base utilizado para toda la lógica del servidor, integraciones, automatizaciones y manejo de procesos internos.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MySQL 2.2.0</a:t>
            </a:r>
            <a:r>
              <a:rPr lang="es-CL" sz="1100">
                <a:solidFill>
                  <a:schemeClr val="dk1"/>
                </a:solidFill>
              </a:rPr>
              <a:t>: Sistema gestor de base de datos relacional utilizado para almacenar información de usuarios, productos, listas de deseos, interacciones y datos del sistema en general.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Docker + Docker Compose</a:t>
            </a:r>
            <a:r>
              <a:rPr lang="es-CL" sz="1100">
                <a:solidFill>
                  <a:schemeClr val="dk1"/>
                </a:solidFill>
              </a:rPr>
              <a:t>: Herramientas usadas para contenerizar la aplicación, permitiendo un ambiente homogéneo y estable para desarrollo y despliegue.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Redis</a:t>
            </a:r>
            <a:r>
              <a:rPr lang="es-CL" sz="1100">
                <a:solidFill>
                  <a:schemeClr val="dk1"/>
                </a:solidFill>
              </a:rPr>
              <a:t>: Utilizado como sistema de caché y cola de tareas para mejorar el rendimiento, acelerar consultas frecuentes y manejar notificaciones.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Meilisearch</a:t>
            </a:r>
            <a:r>
              <a:rPr lang="es-CL" sz="1100">
                <a:solidFill>
                  <a:schemeClr val="dk1"/>
                </a:solidFill>
              </a:rPr>
              <a:t>: Motor de búsqueda ultrarrápido usado para búsquedas internas de productos, usuarios, wishlist y contenido general dentro de la plataforma.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Playwright (Chromium)</a:t>
            </a:r>
            <a:r>
              <a:rPr lang="es-CL" sz="1100">
                <a:solidFill>
                  <a:schemeClr val="dk1"/>
                </a:solidFill>
              </a:rPr>
              <a:t>: Tecnología utilizada para realizar scraping automatizado (Falabella, Knasta), permitiendo extraer datos externos de manera confiable y estructurada.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HTML5, CSS3 y JavaScript</a:t>
            </a:r>
            <a:r>
              <a:rPr lang="es-CL" sz="1100">
                <a:solidFill>
                  <a:schemeClr val="dk1"/>
                </a:solidFill>
              </a:rPr>
              <a:t>: Tecnologías base del frontend utilizadas para construir la interfaz visual y la interacción con los usuarios.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Bootstrap / Poppins</a:t>
            </a:r>
            <a:r>
              <a:rPr lang="es-CL" sz="1100">
                <a:solidFill>
                  <a:schemeClr val="dk1"/>
                </a:solidFill>
              </a:rPr>
              <a:t>: Usado para la estructura visual del sitio, diseño responsivo y uso de tipografías consistentes con el estilo de la marca.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Ollama</a:t>
            </a:r>
            <a:r>
              <a:rPr lang="es-CL" sz="1100">
                <a:solidFill>
                  <a:schemeClr val="dk1"/>
                </a:solidFill>
              </a:rPr>
              <a:t>: Utilizados como motores de inteligencia artificial para generar recomendaciones, procesar texto y ofrecer respuestas contextuales dentro del proyecto.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Giphy API y Calendarific</a:t>
            </a:r>
            <a:r>
              <a:rPr lang="es-CL" sz="1100">
                <a:solidFill>
                  <a:schemeClr val="dk1"/>
                </a:solidFill>
              </a:rPr>
              <a:t>: APIs externas utilizadas para enriquecer la experiencia del usuario con recursos visuales y datos externos (como feriados).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sp>
        <p:nvSpPr>
          <p:cNvPr id="170" name="Google Shape;170;p11"/>
          <p:cNvSpPr txBox="1"/>
          <p:nvPr/>
        </p:nvSpPr>
        <p:spPr>
          <a:xfrm>
            <a:off x="1381695" y="1737975"/>
            <a:ext cx="92598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7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13–21 de agosto: definición del proyecto, requerimientos y arquitectura.</a:t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7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25–29 de agosto: diseño de logo, mockups y documentos base.</a:t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7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1–12 de septiembre: desarrollo de frontend y conexión con base de datos.</a:t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7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15–29 de septiembre: implementación de funcionalidades clave y despliegue en Docker.</a:t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7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01–02 de octubre: integración del sistema, pruebas y documentación del proyecto.</a:t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7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06–10 de octubre:</a:t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7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Finalización de diagramas de Secuencia y Actividad, cierre del DAS, actualización de la Carta Gantt y ajustes de diagramas según metodología Scrum.</a:t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7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13–14 de octubre:</a:t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7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Implementación final de “favoritos” y “regalos recibidos”, mejoras en interfaz y feedback, finalización del diagrama de Casos de Uso y consolidación de documentación Scrum.</a:t>
            </a:r>
            <a:endParaRPr sz="1700">
              <a:solidFill>
                <a:srgbClr val="4285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671244" y="827315"/>
            <a:ext cx="105156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L" sz="3600"/>
              <a:t>Plan de Pruebas Desarrollo</a:t>
            </a:r>
            <a:endParaRPr/>
          </a:p>
        </p:txBody>
      </p:sp>
      <p:sp>
        <p:nvSpPr>
          <p:cNvPr id="176" name="Google Shape;176;p12"/>
          <p:cNvSpPr txBox="1"/>
          <p:nvPr/>
        </p:nvSpPr>
        <p:spPr>
          <a:xfrm>
            <a:off x="671244" y="1690915"/>
            <a:ext cx="97690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Especificación de las Pruebas aplicadas al Sistema y Resultados Obtenidos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/>
        </p:nvSpPr>
        <p:spPr>
          <a:xfrm>
            <a:off x="457158" y="864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Prototipo o Resultado del Proyecto (Sistema)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type="title"/>
          </p:nvPr>
        </p:nvSpPr>
        <p:spPr>
          <a:xfrm>
            <a:off x="838200" y="974938"/>
            <a:ext cx="10515600" cy="67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Reflexión Final</a:t>
            </a:r>
            <a:endParaRPr/>
          </a:p>
        </p:txBody>
      </p:sp>
      <p:sp>
        <p:nvSpPr>
          <p:cNvPr id="187" name="Google Shape;187;p14"/>
          <p:cNvSpPr/>
          <p:nvPr/>
        </p:nvSpPr>
        <p:spPr>
          <a:xfrm>
            <a:off x="903515" y="1647372"/>
            <a:ext cx="9670961" cy="333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Lecciones Aprendidas y Obstáculos presentados con la Experiencia.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obstáculos que se vivieron como equipo?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los evitaría para un próximo proyecto?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casos más complejos en desarrollar?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¿Perciben un crecimiento en su capacidad para desarrollar proyectos informáticos reales?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auto-aprendizajes que han logrado en el proceso?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>
            <p:ph type="title"/>
          </p:nvPr>
        </p:nvSpPr>
        <p:spPr>
          <a:xfrm>
            <a:off x="838200" y="974938"/>
            <a:ext cx="10515600" cy="67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Responder las Preguntas del Proyecto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